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6"/>
  </p:notesMasterIdLst>
  <p:sldIdLst>
    <p:sldId id="256" r:id="rId3"/>
    <p:sldId id="257" r:id="rId4"/>
    <p:sldId id="258" r:id="rId5"/>
    <p:sldId id="260" r:id="rId6"/>
    <p:sldId id="261" r:id="rId7"/>
    <p:sldId id="263" r:id="rId8"/>
    <p:sldId id="264" r:id="rId9"/>
    <p:sldId id="276" r:id="rId10"/>
    <p:sldId id="268" r:id="rId11"/>
    <p:sldId id="270" r:id="rId12"/>
    <p:sldId id="271" r:id="rId13"/>
    <p:sldId id="277" r:id="rId14"/>
    <p:sldId id="275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32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深圳大学2026年全国大学生电子设计竞赛省赛动员会。今天，我们齐聚一堂，共同开启通往省赛的征程。这次会议将聚焦高频和电源两个核心赛道，旨在统一思想、明确任务，为即将到来的挑战做好最充分的准备。让我们一起为荣誉而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会议主要包含七个部分。首先，我们将回顾校内选拔赛的情况并分析省赛的严峻形势。接着，我将阐述本届备赛的总体策略。之后是本次会议的核心——各赛道的具体任务分配。我们还会明确进度规划和汇报制度，并讲解经费报销流程。最后是答疑环节和总结动员。希望大家能认真聆听，明确自己的任务和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代表学院，向所有成功晋级省赛的队伍表示最热烈的祝贺！你们的努力和才华得到了认可。同时，也要感谢每一位同学对电子设计竞赛的热情和投入。今天这个会议的核心目标非常明确：统一思想，让我们劲往一处使；明确任务，让每个人都知道该做什么；高效备赛，在接下来的时间里，用最高效的方式为省赛做好万全准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必须清醒地认识到今年省赛的严峻形势。最大的挑战就是时间！往年我们有两个半月的备赛时间，而今年，从今天开始，扣除期末考试，我们真正能全身心投入备赛的时间只有短短两周！这意味着我们没有犯错的余地，必须从一开始就高效运转。同时，省内强队如云，我们必须拿出十二分的准备，才能在竞争中脱颖而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对时间紧迫的挑战，我们的总体策略是“模块先行、分工协作、吃透真题、快速迭代”。核心思想是，我们不是各自为战，而是一个整体，要拧成一股绳。具体来说，有三个关键点：第一，把基础模块提前做好做扎实；第二，深入研究近五年的真题，摸清出题规律；第三，巧妙利用时间，在期末和备赛之间找到最佳平衡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核心任务，就是分组复现历年真题。我们将以2到3支队伍为一个大组，共同啃下一年的题目。这不仅仅是做出一个作品，更重要的是要吃透它，把里面的技术难点、核心模块都提炼出来，形成我们共享的技术库。这样做的好处是显而易见的：避免重复造轮子，让我们在最短时间内覆盖最多的考点，同时也能极大地锻炼团队协作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源赛道的9支队伍，我们分为三个大组，每组负责一年的真题，分别是25、24和23年的题目。除了复现题目，你们还有一个重要任务，就是共同整理一个“电源常用模块库”，把像AC-DC、DC-DC这些基础但核心的模块都标准化，方便所有队伍调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807C9-E45A-AAE3-C14C-DFD3C88D7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887C59A-056B-DBCC-D18A-61B07D5037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14B781-8440-34FF-F93B-63186F65E4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04E1CCA-393B-C637-8139-1CA7EAB5B9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D538052-D2BF-27F8-7FDF-5F1ED7237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电源赛道的9支队伍，我们分为三个大组，每组负责一年的真题，分别是25、24和23年的题目。除了复现题目，你们还有一个重要任务，就是共同整理一个“电源常用模块库”，把像AC-DC、DC-DC这些基础但核心的模块都标准化，方便所有队伍调用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EB5EF-4C57-E611-3EC5-48A387EEC3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D30E7-3D18-8A4C-E814-8ECF5DB1D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8433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障高效协作，我们需要建立一套机制。首先是“大组负责制”，每个大组选出一位组长，负责组内协调。其次，我们会建立技术共享群，所有资料都要上传共享。第三，鼓励互助答疑，问题摆在台面上，大家一起解决。最后，我们会定期举办技术分享会，让知识流动起来，共同进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详细的备赛进度规划。第一阶段，也就是接下来的10天，是启动阶段，大家要完成分组、PCB设计和初步的方案设计。第二阶段是期末考试周，我强调，学业优先，大家利用碎片化时间推进备赛。第三阶段，从7月16日开始，就是我们的集中冲刺期，所有人全天在实验室，完成最后的调试和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进度，我们建立了严格的汇报制度。第一次汇报在6月20日晚，各小组组长要汇报初步方案和PCB设计进度。第二次汇报在考试结束当晚，检查大家的完成情况。进入集中冲刺阶段后，我们将每天晚上8点开短会，同步进展，解决问题。请大家务必重视这些汇报节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A23E-7EF5-FDE6-A9FC-C754D115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921F1-E076-0BA5-59C1-A9B414BD17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CF795-A65C-6686-DC84-35B689B91EB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12C6641-47FF-F455-B9C8-D7ED4FF15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1A4DDE8-88C8-7A3F-6512-A600520AF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再次强调，时间非常紧迫，但我们的目标必须达成！希望大家能真正拧成一股绳，发挥团队的最大力量，打好这场硬仗。深大学子的拼搏精神，将在你们身上得到最好的体现。预祝所有队伍在省赛中都能取得理想的成绩！我的讲话到此结束，谢谢大家！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0AD31F-EC15-D5DA-DEF5-E55A529766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F5C57-79F0-3ACF-4035-D81D8356B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290025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再次强调，时间非常紧迫，但我们的目标必须达成！希望大家能真正拧成一股绳，发挥团队的最大力量，打好这场硬仗。深大学子的拼搏精神，将在你们身上得到最好的体现。预祝所有队伍在省赛中都能取得理想的成绩！我的讲话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11" Type="http://schemas.openxmlformats.org/officeDocument/2006/relationships/image" Target="../media/image16.svg"/><Relationship Id="rId5" Type="http://schemas.openxmlformats.org/officeDocument/2006/relationships/image" Target="../media/image12.svg"/><Relationship Id="rId10" Type="http://schemas.openxmlformats.org/officeDocument/2006/relationships/image" Target="../media/image15.svg"/><Relationship Id="rId4" Type="http://schemas.openxmlformats.org/officeDocument/2006/relationships/image" Target="../media/image11.svg"/><Relationship Id="rId9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nuedc-training.com.cn/index/news/details/new_id/255" TargetMode="External"/><Relationship Id="rId5" Type="http://schemas.openxmlformats.org/officeDocument/2006/relationships/hyperlink" Target="https://res.nuedc-training.com.cn/topic/2024/topic_109.html" TargetMode="External"/><Relationship Id="rId4" Type="http://schemas.openxmlformats.org/officeDocument/2006/relationships/hyperlink" Target="https://res.nuedc-training.com.cn/topic/2025/topic_120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es.nuedc-training.com.cn/topic/2023/topic_98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nuedc-training.com.cn/index/news/details/new_id/258" TargetMode="External"/><Relationship Id="rId4" Type="http://schemas.openxmlformats.org/officeDocument/2006/relationships/hyperlink" Target="https://res.nuedc-training.com.cn/topic/2024/topic_111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2026 </a:t>
            </a:r>
            <a:r>
              <a:rPr lang="en-US" sz="4800" b="1" i="0" u="none" strike="noStrike" dirty="0" err="1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全国大学生电子设计竞赛动员会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368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4064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 dirty="0" err="1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高频</a:t>
            </a:r>
            <a:r>
              <a:rPr lang="en-US" sz="2800" b="0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&amp; </a:t>
            </a:r>
            <a:r>
              <a:rPr lang="en-US" sz="2800" b="0" i="0" u="none" strike="noStrike" dirty="0" err="1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电源赛道专项部署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5588000"/>
            <a:ext cx="317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5F5F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主办单位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电子与信息工程学院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14074">
            <a:off x="4318000" y="5899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4826000" y="558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solidFill>
                  <a:srgbClr val="F5F5F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主讲</a:t>
            </a:r>
            <a:r>
              <a:rPr lang="zh-CN" altLang="en-US" sz="1400" b="0" i="0" u="none" strike="noStrike" dirty="0">
                <a:solidFill>
                  <a:srgbClr val="F5F5F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 dirty="0" err="1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张晓</a:t>
            </a:r>
            <a:r>
              <a:rPr lang="en-US" sz="1600" b="1" i="0" u="none" strike="noStrike" dirty="0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 dirty="0" err="1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副教授</a:t>
            </a:r>
            <a:endParaRPr lang="en-US" sz="1100" dirty="0"/>
          </a:p>
        </p:txBody>
      </p:sp>
      <p:cxnSp>
        <p:nvCxnSpPr>
          <p:cNvPr id="10" name="Connector 10"/>
          <p:cNvCxnSpPr/>
          <p:nvPr/>
        </p:nvCxnSpPr>
        <p:spPr>
          <a:xfrm rot="5314074">
            <a:off x="7620000" y="58992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128000" y="5588000"/>
            <a:ext cx="279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5F5F5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会议日期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5F5F5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6 月 10 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会议议程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390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841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校内选拔赛总结与省赛形势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回顾过往比赛的经验教训，深入剖析当前省赛的竞争格局与严峻形势，为后续备赛找准定位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04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3111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本届备赛总体策略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明确本届参赛的核心目标与方向，统一团队思想，确立“以赛促学、以赛促练”的备赛总基调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016000" y="4254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各赛道具体任务分配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细化各参赛赛道的具体任务，落实到人、责任到位，确保分工协作高效推进，发挥团队最大效能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1016000" y="5397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进度规划与汇报制度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制定详细的备赛时间节点与进度表，建立定期汇报沟通机制，把控整体节奏，确保备赛进度可控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6413500" y="1778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667500" y="1841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经费报销与物资管理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规范经费使用与报销流程，梳理备赛所需物资清单，做好后勤保障工作，为比赛顺利进行提供支持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413500" y="33655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33655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67500" y="34290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06. </a:t>
            </a: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答疑交流</a:t>
            </a:r>
            <a:endParaRPr lang="en-US" sz="1100" dirty="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开放现场交流环节，收集团队成员的疑问与建议，集思广益解决备赛中遇到的实际问题，凝聚共识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413500" y="4953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413500" y="4953000"/>
            <a:ext cx="76200" cy="10795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67500" y="5016500"/>
            <a:ext cx="476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07. 总结动员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对本次会议内容进行总结，鼓舞团队士气，激励大家以饱满的热情投入备赛，齐心协力共创佳绩。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欢迎与致谢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6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祝贺所有晋级省赛的队伍！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667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你们在激烈的校内选拔赛中脱颖而出，展现了扎实的专业基础和卓越的创新能力。这不仅是荣誉，更是对你们日夜钻研、辛勤付出的最好回报。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778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159500" y="1778000"/>
            <a:ext cx="76200" cy="2032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13500" y="1968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感谢大家对电赛的热情与付出！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413508" y="2470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13500" y="2667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每一次焊接、每一行代码、每一次调试，都凝聚着你们的汗水与智慧。这份对电子技术纯粹的热爱，不仅点亮了赛场，更是我们不断探索、持续前行的核心动力。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87500" y="45085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统一思想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1016014" y="507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1016000" y="5270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确保所有晋级队伍对省赛备赛策略、技术方向有清晰、一致的认识，凝聚共识，劲往一处使。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94200" y="431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450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219700" y="45085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明确任务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4648214" y="507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4648200" y="5270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将备赛的核心任务拆解、具体化、责任化，落实到每个团队、每个成员，确保分工明确，执行有力。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26400" y="4318000"/>
            <a:ext cx="33782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4508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851900" y="4508500"/>
            <a:ext cx="2349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高效备赛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5211">
            <a:off x="8280414" y="507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80400" y="5270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在有限的备赛周期内，优化时间管理，最大化准备效率，以最佳状态迎接挑战，力争省赛佳绩。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2026年省赛形势与时间挑战</a:t>
            </a:r>
            <a:endParaRPr lang="en-US" sz="1100"/>
          </a:p>
        </p:txBody>
      </p:sp>
      <p:cxnSp>
        <p:nvCxnSpPr>
          <p:cNvPr id="6" name="Connector 6"/>
          <p:cNvCxnSpPr>
            <a:cxnSpLocks/>
          </p:cNvCxnSpPr>
          <p:nvPr/>
        </p:nvCxnSpPr>
        <p:spPr>
          <a:xfrm>
            <a:off x="2034207" y="1414670"/>
            <a:ext cx="26039" cy="67679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415208" y="1414670"/>
            <a:ext cx="6428076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415208" y="1414670"/>
            <a:ext cx="85707" cy="1270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9208" y="1605170"/>
            <a:ext cx="457108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04208" y="1541670"/>
            <a:ext cx="5142461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省赛时间锁定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7月底-8月初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期末考试结束后，我们仅剩</a:t>
            </a:r>
            <a:r>
              <a:rPr lang="en-US" sz="16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2周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集中备赛时间，窗口期极短。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2415208" y="2938670"/>
            <a:ext cx="3071192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2415208" y="2938670"/>
            <a:ext cx="85707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2605708" y="3065670"/>
            <a:ext cx="2642654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往届备赛基准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5月中旬启动备赛，拥有充足的</a:t>
            </a:r>
            <a:r>
              <a:rPr lang="en-US" sz="2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2.5个月</a:t>
            </a:r>
            <a:r>
              <a:rPr lang="en-US" sz="13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周期，可从容打磨方案与迭代作品。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5399708" y="2938670"/>
            <a:ext cx="3071192" cy="2032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399708" y="2938670"/>
            <a:ext cx="85707" cy="2032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5590208" y="3065670"/>
            <a:ext cx="2642654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本届残酷现实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6月10日才启动，扣除期末考，实际仅</a:t>
            </a:r>
            <a:r>
              <a:rPr 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2周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冲刺，时间被极度压缩。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415208" y="5224670"/>
            <a:ext cx="6428076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5708" y="5402470"/>
            <a:ext cx="399969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177208" y="5288170"/>
            <a:ext cx="535673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省内强队云集，比拼的是极致效率与团队协作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面对全省高校的强劲对手，我们不仅要拼技术硬实力，更要在有限时间内实现方案的最优落地</a:t>
            </a:r>
            <a:r>
              <a:rPr lang="en-US" sz="12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本届备赛总体策略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76200" cy="1270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1778000"/>
            <a:ext cx="1009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总方针：分工协作、吃透真题、快速迭代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核心理念：一个队伍的力量有限，唯有所有队伍拧成一股绳，整合资源、互通有无，才能最大化发挥团队优势，攻克备赛难关</a:t>
            </a: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3784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模块固化验证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946">
            <a:off x="1016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016000" y="469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将复杂系统拆解为标准化模块，提前完成各模块的独立设计、调试与压力测试，确保基础能力扎实可靠，为系统集成提供稳定支撑。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381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07000" y="3784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深挖真题考点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946">
            <a:off x="46355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469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以近3年省赛真题为核心导向，深入分析高频考点与命题趋势，全员参与复现与复盘，沉淀解题经验，构建系统的技术知识库。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8001000" y="3556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3810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26500" y="37846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时间动态平衡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450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4699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在保障期末考试质量的前提下，科学规划备赛进度，最大化利用课余碎片化时间，灵活调整节奏，实现学业与竞赛的双向兼顾。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大师兄</a:t>
            </a:r>
            <a:r>
              <a:rPr lang="zh-CN" altLang="en-US" sz="32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张育铭 补充明确备赛策略</a:t>
            </a:r>
            <a:r>
              <a:rPr lang="en-US" sz="32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3200" b="1" i="0" u="none" strike="noStrike" dirty="0" err="1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历年真题分组复现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5875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05000" y="1524000"/>
            <a:ext cx="914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实施方式：分组攻坚，协同作战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以3/5支队伍为一个大组，共同负责1年的省赛真题，集中力量攻克难点，确保对题目理解的深度与广度。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11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7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完整复现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0834">
            <a:off x="952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81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严格实现题目全部功能点，调试优化达到最高技术指标，不留知识死角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3492500" y="2921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3000" y="3111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307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文档沉淀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0834">
            <a:off x="3683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683000" y="381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撰写详尽的技术文档，记录开发流程中的“踩坑”经验，形成可复用的知识库。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2921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111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07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模块提炼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0834">
            <a:off x="6413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413500" y="381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抽象核心算法与通用模块，封装成标准化组件库，为后续开发提供底层支撑</a:t>
            </a:r>
            <a:r>
              <a:rPr lang="en-US" sz="13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8953500" y="2921000"/>
            <a:ext cx="2476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3111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88500" y="3073400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分享交流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20834">
            <a:off x="9144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9144000" y="3810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制作讲解PPT，面向所有队伍进行成果汇报与技术分享，促进全员共同进步。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397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524000" y="5334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避免重复劳动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集中力量办大事，高效覆盖所有核心考点，节省重复攻关的时间成本。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43815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53975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5143500" y="5334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实现知识共享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一人攻关，全团队受益，让每个成员都能快速掌握不同方向的核心技术。</a:t>
            </a:r>
          </a:p>
        </p:txBody>
      </p:sp>
      <p:sp>
        <p:nvSpPr>
          <p:cNvPr id="33" name="AutoShape 33"/>
          <p:cNvSpPr/>
          <p:nvPr/>
        </p:nvSpPr>
        <p:spPr>
          <a:xfrm>
            <a:off x="8001000" y="52070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F8C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5397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763000" y="5334000"/>
            <a:ext cx="2540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强化团队协作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在协同开发中锻炼沟通、分工与磨合能力，为实战比赛积累宝贵的团队经验。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电源赛道真题分组安排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89059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8999" y="1968500"/>
            <a:ext cx="570395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01 / 第一组（3队） 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组长：徐斌    副组长：秦晟轩   谭子星</a:t>
            </a:r>
            <a:endParaRPr lang="en-US" dirty="0"/>
          </a:p>
        </p:txBody>
      </p:sp>
      <p:cxnSp>
        <p:nvCxnSpPr>
          <p:cNvPr id="6" name="Connector 6"/>
          <p:cNvCxnSpPr>
            <a:cxnSpLocks/>
          </p:cNvCxnSpPr>
          <p:nvPr/>
        </p:nvCxnSpPr>
        <p:spPr>
          <a:xfrm>
            <a:off x="889000" y="2476500"/>
            <a:ext cx="551842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8999" y="2667000"/>
            <a:ext cx="5597939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3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3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2025年</a:t>
            </a:r>
            <a:r>
              <a:rPr lang="zh-CN" altLang="en-US" sz="3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电</a:t>
            </a:r>
            <a:r>
              <a:rPr lang="en-US" sz="3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赛电源真题</a:t>
            </a:r>
            <a:endParaRPr lang="en-US" sz="2400" dirty="0"/>
          </a:p>
        </p:txBody>
      </p:sp>
      <p:sp>
        <p:nvSpPr>
          <p:cNvPr id="8" name="AutoShape 8"/>
          <p:cNvSpPr/>
          <p:nvPr/>
        </p:nvSpPr>
        <p:spPr>
          <a:xfrm>
            <a:off x="6896651" y="1782970"/>
            <a:ext cx="5149299" cy="444003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096537" y="3029686"/>
            <a:ext cx="4949413" cy="83994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02 / 第二组（3队）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组长：袁泉  副组长：方泽炫  李源德</a:t>
            </a:r>
            <a:endParaRPr lang="en-US" dirty="0"/>
          </a:p>
        </p:txBody>
      </p:sp>
      <p:cxnSp>
        <p:nvCxnSpPr>
          <p:cNvPr id="10" name="Connector 10"/>
          <p:cNvCxnSpPr>
            <a:cxnSpLocks/>
          </p:cNvCxnSpPr>
          <p:nvPr/>
        </p:nvCxnSpPr>
        <p:spPr>
          <a:xfrm>
            <a:off x="7096495" y="3972569"/>
            <a:ext cx="4251951" cy="133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7168203" y="3741438"/>
            <a:ext cx="4606193" cy="113536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32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3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2024年</a:t>
            </a:r>
            <a:r>
              <a:rPr lang="zh-CN" altLang="en-US" sz="32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电</a:t>
            </a:r>
            <a:r>
              <a:rPr lang="en-US" sz="3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赛电源真题</a:t>
            </a:r>
            <a:endParaRPr lang="en-US" sz="2400" dirty="0"/>
          </a:p>
        </p:txBody>
      </p:sp>
      <p:sp>
        <p:nvSpPr>
          <p:cNvPr id="12" name="AutoShape 12"/>
          <p:cNvSpPr/>
          <p:nvPr/>
        </p:nvSpPr>
        <p:spPr>
          <a:xfrm>
            <a:off x="761999" y="4191000"/>
            <a:ext cx="5890591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8999" y="4381500"/>
            <a:ext cx="5703957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03 / 第三组（3队）</a:t>
            </a: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4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组长：陈新德  副组长：许海林  张镇东  </a:t>
            </a:r>
            <a:endParaRPr lang="en-US" dirty="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889013" y="4883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89000" y="5080000"/>
            <a:ext cx="559793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32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32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6"/>
              </a:rPr>
              <a:t>2021年</a:t>
            </a:r>
            <a:r>
              <a:rPr lang="zh-CN" altLang="en-US" sz="32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6"/>
              </a:rPr>
              <a:t>电</a:t>
            </a:r>
            <a:r>
              <a:rPr lang="en-US" sz="3200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6"/>
              </a:rPr>
              <a:t>赛电源真题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96A5F-625E-1884-2DF9-1E278B8B8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>
            <a:extLst>
              <a:ext uri="{FF2B5EF4-FFF2-40B4-BE49-F238E27FC236}">
                <a16:creationId xmlns:a16="http://schemas.microsoft.com/office/drawing/2014/main" id="{CBDC50D7-D627-553D-F770-06EAA5BC52DD}"/>
              </a:ext>
            </a:extLst>
          </p:cNvPr>
          <p:cNvSpPr/>
          <p:nvPr/>
        </p:nvSpPr>
        <p:spPr>
          <a:xfrm>
            <a:off x="0" y="2066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5088F03E-7285-930A-2013-8C34790BC3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D2E018E-82AF-7A88-8810-EBA79298363D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高频</a:t>
            </a:r>
            <a:r>
              <a:rPr lang="en-US" sz="3200" b="1" i="0" u="none" strike="noStrike" dirty="0" err="1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赛道真题分组安排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7ECF1ED-1514-083D-3FD9-7B0C9FF5AD94}"/>
              </a:ext>
            </a:extLst>
          </p:cNvPr>
          <p:cNvSpPr/>
          <p:nvPr/>
        </p:nvSpPr>
        <p:spPr>
          <a:xfrm>
            <a:off x="762000" y="1778000"/>
            <a:ext cx="589059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F04229D-4F3D-18DE-7440-062FE01313F1}"/>
              </a:ext>
            </a:extLst>
          </p:cNvPr>
          <p:cNvSpPr/>
          <p:nvPr/>
        </p:nvSpPr>
        <p:spPr>
          <a:xfrm>
            <a:off x="888999" y="1968499"/>
            <a:ext cx="5703957" cy="951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01 / 第一组（5队） </a:t>
            </a:r>
            <a:r>
              <a:rPr lang="zh-CN" alt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组长：吕泳龙   </a:t>
            </a:r>
            <a:endParaRPr lang="en-US" altLang="zh-CN" sz="2000" b="1" i="0" u="none" strike="noStrike" dirty="0">
              <a:solidFill>
                <a:srgbClr val="FF8C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副组长：杨国威  黄俊贤 霍萧峰  刘佳红</a:t>
            </a:r>
            <a:endParaRPr lang="en-US" sz="1200" dirty="0"/>
          </a:p>
        </p:txBody>
      </p:sp>
      <p:cxnSp>
        <p:nvCxnSpPr>
          <p:cNvPr id="6" name="Connector 6">
            <a:extLst>
              <a:ext uri="{FF2B5EF4-FFF2-40B4-BE49-F238E27FC236}">
                <a16:creationId xmlns:a16="http://schemas.microsoft.com/office/drawing/2014/main" id="{CAF2DFC0-2F7E-FC82-EB2A-AA1BA23532C0}"/>
              </a:ext>
            </a:extLst>
          </p:cNvPr>
          <p:cNvCxnSpPr>
            <a:cxnSpLocks/>
          </p:cNvCxnSpPr>
          <p:nvPr/>
        </p:nvCxnSpPr>
        <p:spPr>
          <a:xfrm>
            <a:off x="888999" y="2840935"/>
            <a:ext cx="551842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>
              <a:ext uri="{FF2B5EF4-FFF2-40B4-BE49-F238E27FC236}">
                <a16:creationId xmlns:a16="http://schemas.microsoft.com/office/drawing/2014/main" id="{B567EF26-0D2A-1310-698B-1A0870AFDDA7}"/>
              </a:ext>
            </a:extLst>
          </p:cNvPr>
          <p:cNvSpPr/>
          <p:nvPr/>
        </p:nvSpPr>
        <p:spPr>
          <a:xfrm>
            <a:off x="888999" y="2667000"/>
            <a:ext cx="5597939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3"/>
              </a:rPr>
              <a:t>2023年</a:t>
            </a:r>
            <a:r>
              <a:rPr lang="zh-CN" alt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3"/>
              </a:rPr>
              <a:t>电</a:t>
            </a: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3"/>
              </a:rPr>
              <a:t>赛</a:t>
            </a:r>
            <a:r>
              <a:rPr lang="zh-CN" alt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3"/>
              </a:rPr>
              <a:t>高频</a:t>
            </a:r>
            <a:r>
              <a:rPr lang="en-US" sz="36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3"/>
              </a:rPr>
              <a:t>真题</a:t>
            </a:r>
            <a:endParaRPr lang="en-US" sz="28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BA3C9130-8941-9A43-D95B-E07CFA8A05CC}"/>
              </a:ext>
            </a:extLst>
          </p:cNvPr>
          <p:cNvSpPr/>
          <p:nvPr/>
        </p:nvSpPr>
        <p:spPr>
          <a:xfrm>
            <a:off x="6779589" y="1782970"/>
            <a:ext cx="4782931" cy="444003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4B2A7B2-D6C4-3841-799B-1D6083255B8D}"/>
              </a:ext>
            </a:extLst>
          </p:cNvPr>
          <p:cNvSpPr/>
          <p:nvPr/>
        </p:nvSpPr>
        <p:spPr>
          <a:xfrm>
            <a:off x="6969538" y="2919899"/>
            <a:ext cx="4495970" cy="113536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 02 / 第二组（5队）</a:t>
            </a:r>
            <a:r>
              <a:rPr lang="zh-CN" altLang="en-US" sz="2000" b="1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组长：甘世乐</a:t>
            </a:r>
            <a:endParaRPr lang="en-US" altLang="zh-CN" sz="2000" b="1" i="0" u="none" strike="noStrike" dirty="0">
              <a:solidFill>
                <a:srgbClr val="FF8C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 副组长：卢韬宇  吴思彤 郭梦真 吕俊泽</a:t>
            </a:r>
            <a:endParaRPr lang="en-US" sz="1200" dirty="0"/>
          </a:p>
        </p:txBody>
      </p: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43750084-2D9C-C6A5-39FC-DFDAC3C2DA8B}"/>
              </a:ext>
            </a:extLst>
          </p:cNvPr>
          <p:cNvCxnSpPr>
            <a:cxnSpLocks/>
          </p:cNvCxnSpPr>
          <p:nvPr/>
        </p:nvCxnSpPr>
        <p:spPr>
          <a:xfrm>
            <a:off x="7096495" y="3972569"/>
            <a:ext cx="4251951" cy="133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>
              <a:ext uri="{FF2B5EF4-FFF2-40B4-BE49-F238E27FC236}">
                <a16:creationId xmlns:a16="http://schemas.microsoft.com/office/drawing/2014/main" id="{7DAD1BBC-E5E8-34AE-8C19-3E7AC4D57DB0}"/>
              </a:ext>
            </a:extLst>
          </p:cNvPr>
          <p:cNvSpPr/>
          <p:nvPr/>
        </p:nvSpPr>
        <p:spPr>
          <a:xfrm>
            <a:off x="7059159" y="3683000"/>
            <a:ext cx="4406349" cy="23664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44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4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2024年</a:t>
            </a:r>
            <a:r>
              <a:rPr lang="zh-CN" altLang="en-US" sz="4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电</a:t>
            </a:r>
            <a:r>
              <a:rPr lang="en-US" sz="4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赛</a:t>
            </a:r>
            <a:r>
              <a:rPr lang="zh-CN" altLang="en-US" sz="4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高频</a:t>
            </a:r>
            <a:r>
              <a:rPr lang="en-US" sz="4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4"/>
              </a:rPr>
              <a:t>真题</a:t>
            </a:r>
            <a:endParaRPr lang="en-US" sz="3600" dirty="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073C1CF8-CBB5-09CA-8783-12879C458B32}"/>
              </a:ext>
            </a:extLst>
          </p:cNvPr>
          <p:cNvSpPr/>
          <p:nvPr/>
        </p:nvSpPr>
        <p:spPr>
          <a:xfrm>
            <a:off x="761999" y="4191000"/>
            <a:ext cx="5890591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>
            <a:extLst>
              <a:ext uri="{FF2B5EF4-FFF2-40B4-BE49-F238E27FC236}">
                <a16:creationId xmlns:a16="http://schemas.microsoft.com/office/drawing/2014/main" id="{D9A78D6C-68A1-37DC-6594-33B24DE5E27E}"/>
              </a:ext>
            </a:extLst>
          </p:cNvPr>
          <p:cNvSpPr/>
          <p:nvPr/>
        </p:nvSpPr>
        <p:spPr>
          <a:xfrm>
            <a:off x="888999" y="4381499"/>
            <a:ext cx="5703957" cy="81335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03 / 第三组（5队）</a:t>
            </a:r>
            <a:r>
              <a:rPr lang="zh-CN" alt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组长：张锐涛 </a:t>
            </a:r>
            <a:endParaRPr lang="en-US" altLang="zh-CN" sz="2000" b="1" i="0" u="none" strike="noStrike" dirty="0">
              <a:solidFill>
                <a:srgbClr val="FF8C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 dirty="0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 副组长：邱照宇 蔡晓越 徐博涵 张兆喆  </a:t>
            </a:r>
            <a:endParaRPr lang="en-US" sz="1200" dirty="0"/>
          </a:p>
        </p:txBody>
      </p:sp>
      <p:cxnSp>
        <p:nvCxnSpPr>
          <p:cNvPr id="14" name="Connector 14">
            <a:extLst>
              <a:ext uri="{FF2B5EF4-FFF2-40B4-BE49-F238E27FC236}">
                <a16:creationId xmlns:a16="http://schemas.microsoft.com/office/drawing/2014/main" id="{965E5BA9-6E0F-BB2A-9BE9-3147D0E050CB}"/>
              </a:ext>
            </a:extLst>
          </p:cNvPr>
          <p:cNvCxnSpPr>
            <a:cxnSpLocks/>
          </p:cNvCxnSpPr>
          <p:nvPr/>
        </p:nvCxnSpPr>
        <p:spPr>
          <a:xfrm>
            <a:off x="888999" y="5273813"/>
            <a:ext cx="5518425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>
              <a:ext uri="{FF2B5EF4-FFF2-40B4-BE49-F238E27FC236}">
                <a16:creationId xmlns:a16="http://schemas.microsoft.com/office/drawing/2014/main" id="{E1D168D7-0B2B-D223-A39A-4614DA322379}"/>
              </a:ext>
            </a:extLst>
          </p:cNvPr>
          <p:cNvSpPr/>
          <p:nvPr/>
        </p:nvSpPr>
        <p:spPr>
          <a:xfrm>
            <a:off x="889000" y="5080000"/>
            <a:ext cx="5597938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zh-CN" altLang="en-US" sz="36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主攻</a:t>
            </a: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202</a:t>
            </a:r>
            <a:r>
              <a:rPr lang="en-US" sz="3600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1</a:t>
            </a: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年</a:t>
            </a:r>
            <a:r>
              <a:rPr lang="zh-CN" alt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电</a:t>
            </a:r>
            <a:r>
              <a:rPr 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赛</a:t>
            </a:r>
            <a:r>
              <a:rPr lang="zh-CN" altLang="en-US" sz="36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高频</a:t>
            </a:r>
            <a:r>
              <a:rPr lang="en-US" sz="36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  <a:hlinkClick r:id="rId5"/>
              </a:rPr>
              <a:t>真题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6246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分工协作机制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057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建立“大组负责制”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每个大组推选1名组长，统筹协调组内工作分配、任务拆解与进度跟踪，明确责任主体，确保项目推进的高效与有序。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905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350000" y="1905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95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2057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建立“技术共享群”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291">
            <a:off x="6604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2857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所有代码、原理图、技术文档及测试数据统一上传至共享平台，实现团队知识资产的零保留共享，避免信息孤岛，沉淀项目经验。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81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87500" y="4343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建立“互助答疑”机制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1016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160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遇到技术难题优先在群内发起公开讨论，鼓励成员各抒己见、互帮互助，将个人问题转化为团队共同的学习与提升机会。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4191000"/>
            <a:ext cx="5207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50800" cy="190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4381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75500" y="43434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定期技术分享会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91">
            <a:off x="6604009" y="4946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604000" y="5143500"/>
            <a:ext cx="469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每组完成关键题目复现后，面向全员开展技术分享，深度剖析解题思路、核心难点与最终解决方案，促进团队整体技术水平迭代。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分阶段备赛进度规划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349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311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第一阶段：启动推进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06.10 - 06.21 | </a:t>
            </a:r>
            <a:r>
              <a:rPr lang="en-US" sz="1400" b="0" i="0" u="none" strike="noStrike" dirty="0" err="1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基础搭建期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完成参赛大组划分与赛题方向分配，敲定核心方案；同步完成高频</a:t>
            </a:r>
            <a:r>
              <a:rPr lang="zh-CN" alt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链路</a:t>
            </a: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设计，启动历年真题拆解与技术路线分析</a:t>
            </a: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49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2311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第二阶段：并行兼顾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06.22 - 07.05 | </a:t>
            </a:r>
            <a:r>
              <a:rPr lang="en-US" sz="1400" b="0" i="0" u="none" strike="noStrike" dirty="0" err="1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期末备考期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优先保障期末考试复习，确保学业无挂科风险；利用课余碎片化时间，分工协作完成系统原理图细化与核心功能代码的初步编写工作</a:t>
            </a: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8C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23495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88400" y="2311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第三阶段：集中冲刺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80400" y="3302000"/>
            <a:ext cx="2870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07.16 - 07.30 | </a:t>
            </a:r>
            <a:r>
              <a:rPr lang="en-US" sz="1400" b="0" i="0" u="none" strike="noStrike" dirty="0" err="1">
                <a:solidFill>
                  <a:srgbClr val="FF8C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全力攻坚期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 dirty="0" err="1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全员进驻实验室进行封闭式集中备赛，完成所有真题场景复现与硬件模块联调；开展多轮模拟测试，排查潜在Bug，打磨最终参赛作品</a:t>
            </a:r>
            <a:r>
              <a:rPr lang="en-US" sz="13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2000" y="5842000"/>
            <a:ext cx="76200" cy="6350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</a:t>
            </a: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统筹兼顾学业与备赛进度，严格把控时间节点，确保每一阶段任务高质量落地，以系统化规划保障备赛效率。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汇报制度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2311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第一次汇报：6月</a:t>
            </a:r>
            <a:r>
              <a:rPr 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15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日晚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形式：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线上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开展，全员参与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各组题目分析与方案设计、高频模块设计进度同步</a:t>
            </a:r>
            <a:endParaRPr lang="en-US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各</a:t>
            </a:r>
            <a:r>
              <a:rPr lang="zh-CN" altLang="en-US" sz="1400" b="0" i="0" u="none" strike="noStrike" dirty="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组组长</a:t>
            </a:r>
            <a:endParaRPr lang="en-US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311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第二次汇报：7月15日晚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考试结束当天晚上，快速复盘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形式：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线上会议，同步核心成果与问题</a:t>
            </a:r>
            <a:endParaRPr lang="en-US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</a:t>
            </a:r>
            <a:r>
              <a:rPr lang="en-US" sz="14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前期工作完成情况、当前卡点问题梳理及后续计划调整</a:t>
            </a:r>
            <a:endParaRPr lang="en-US" sz="1400" b="0" i="0" u="none" strike="noStrike" dirty="0">
              <a:solidFill>
                <a:srgbClr val="FFFFFF">
                  <a:alpha val="90196"/>
                </a:srgb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8C0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26500" y="23114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集中冲刺：每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两</a:t>
            </a: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天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晚</a:t>
            </a:r>
            <a:r>
              <a:rPr lang="zh-CN" alt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上</a:t>
            </a:r>
            <a:r>
              <a:rPr lang="en-US" sz="18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8点短会</a:t>
            </a:r>
            <a:endParaRPr lang="en-US" sz="1100" dirty="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978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8C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175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频次：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进入冲刺期后，每日固定时间召开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目的：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快速同步当日核心进展，对齐次日关键计划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重点：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及时暴露执行中的阻碍，现场协同解决问题，确保节奏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FF8C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60071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5905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关键提示：请严格遵守各节点汇报时间，组长需提前梳理内容，确保信息同步高效，问题前置解决。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F7ADE-7C6A-EB2F-A25C-E6AA0AFF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21C3227-B561-4006-68D5-B3E0C8FE69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E1EB94E-4FE8-CC29-C60C-2E710C2E2303}"/>
              </a:ext>
            </a:extLst>
          </p:cNvPr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zh-CN" altLang="en-US" sz="4000" b="1" dirty="0">
                <a:solidFill>
                  <a:srgbClr val="F5F5F5"/>
                </a:solidFill>
                <a:latin typeface="Noto Sans SC"/>
                <a:ea typeface="Noto Sans SC"/>
                <a:sym typeface="Noto Sans SC"/>
              </a:rPr>
              <a:t>总结与期望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F42C115-F25F-1E46-EC3F-B9C61BF6CA9B}"/>
              </a:ext>
            </a:extLst>
          </p:cNvPr>
          <p:cNvSpPr/>
          <p:nvPr/>
        </p:nvSpPr>
        <p:spPr>
          <a:xfrm>
            <a:off x="5461000" y="3810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FA8AF52-543F-134E-9028-B6B61828AAD0}"/>
              </a:ext>
            </a:extLst>
          </p:cNvPr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732E3387-2AD6-B1B2-E6B9-11B11AC6C502}"/>
              </a:ext>
            </a:extLst>
          </p:cNvPr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5F5F5">
                    <a:alpha val="85098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 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5182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F5F5F5"/>
                </a:solidFill>
                <a:latin typeface="Noto Sans SC"/>
                <a:ea typeface="Noto Sans SC"/>
                <a:sym typeface="Noto Sans SC"/>
              </a:rPr>
              <a:t>答疑时间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461000" y="3810000"/>
            <a:ext cx="1270000" cy="38100"/>
          </a:xfrm>
          <a:prstGeom prst="roundRect">
            <a:avLst>
              <a:gd name="adj" fmla="val 0"/>
            </a:avLst>
          </a:prstGeom>
          <a:solidFill>
            <a:srgbClr val="FF8C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FF8C00"/>
                </a:solidFill>
                <a:latin typeface="Noto Sans SC"/>
                <a:ea typeface="Noto Sans SC"/>
                <a:cs typeface="Noto Sans SC"/>
                <a:sym typeface="Noto Sans SC"/>
              </a:rPr>
              <a:t>时间紧迫，使命必达！    拧成一股绳，打好这场仗！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5F5F5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预祝所有队伍在省赛中取得优异成绩</a:t>
            </a:r>
            <a:r>
              <a:rPr lang="en-US" sz="1600" b="0" i="0" u="none" strike="noStrike" dirty="0">
                <a:solidFill>
                  <a:srgbClr val="F5F5F5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！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1144</Words>
  <Application>Microsoft Office PowerPoint</Application>
  <PresentationFormat>宽屏</PresentationFormat>
  <Paragraphs>164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张</dc:creator>
  <cp:lastModifiedBy>育铭 张</cp:lastModifiedBy>
  <cp:revision>2</cp:revision>
  <dcterms:modified xsi:type="dcterms:W3CDTF">2026-06-10T10:22:46Z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{"Label":"1","ContentProducer":"001191110102MACQD9K64010000","ProduceID":"7649628325070572519","ReservedCode1":"","ContentPropagator":"","PropagateID":"","ReservedCode2":""}</vt:lpwstr>
  </property>
</Properties>
</file>